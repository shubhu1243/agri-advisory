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74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201168" cy="4727448"/>
          </a:xfrm>
          <a:prstGeom prst="rect">
            <a:avLst/>
          </a:prstGeom>
          <a:solidFill>
            <a:srgbClr val="2E7D4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850392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320040"/>
            <a:ext cx="8503920" cy="1097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C2E"/>
                </a:solidFill>
              </a:rPr>
              <a:t>Intelligent Agri Advisory System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71600" y="1508760"/>
            <a:ext cx="64008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08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5C2E"/>
                </a:solidFill>
              </a:rPr>
              <a:t>A Final Year Project | B.Tech — Computer Science &amp;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057400"/>
            <a:ext cx="6949440" cy="0"/>
          </a:xfrm>
          <a:prstGeom prst="line">
            <a:avLst/>
          </a:prstGeom>
          <a:noFill/>
          <a:ln w="12700">
            <a:solidFill>
              <a:srgbClr val="CCDD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46E57"/>
                </a:solidFill>
              </a:rPr>
              <a:t>SUBMITTED BY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96312"/>
            <a:ext cx="3657600" cy="28346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496312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Himanshu Chauhan  —  2200520100028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43784"/>
            <a:ext cx="3657600" cy="283464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713232" y="2843784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Shubhankar Khatik  —  2200521520056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3657600" cy="28346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191256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Ritik Verma  —  2200520100051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0" cy="1691640"/>
          </a:xfrm>
          <a:prstGeom prst="line">
            <a:avLst/>
          </a:prstGeom>
          <a:noFill/>
          <a:ln w="12700">
            <a:solidFill>
              <a:srgbClr val="CCDD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46E57"/>
                </a:solidFill>
              </a:rPr>
              <a:t>Under the guidance of: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496312"/>
            <a:ext cx="3566160" cy="28346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496312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2E"/>
                </a:solidFill>
              </a:rPr>
              <a:t>Dr. M.H. Khan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843784"/>
            <a:ext cx="3566160" cy="28346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843784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2E"/>
                </a:solidFill>
              </a:rPr>
              <a:t>Mr. Raghvendra Singh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8503920" cy="484632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24528"/>
            <a:ext cx="8229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Institute of Engineering and Technology (IET), Lucknow  |  Dr. A.P.J. Abdul Kalam Technical University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3D1A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 |  Academic Year 2025-26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 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8229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8229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🌱  Introduction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22960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8229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8928" y="8229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💡  Motivation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124815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248156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12481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124815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🎯  Objective &amp; Problem Statement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24815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248156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2481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38928" y="124815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📚  Literature Survey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167335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1673352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16733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" y="167335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🗄️  Dataset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67335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673352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6733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38928" y="167335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🔬  Methodology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8600" y="2098548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2098548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" y="20985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" y="20985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⚙️  Implementation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2098548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098548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0985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38928" y="20985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📈  Results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28600" y="252374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2523744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25237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" y="252374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✅  Conclusion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663440" y="252374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523744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25237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38928" y="252374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🚀  Future Scope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28600" y="2948940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" y="2948940"/>
            <a:ext cx="411480" cy="38404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50" name="Text 48"/>
          <p:cNvSpPr/>
          <p:nvPr/>
        </p:nvSpPr>
        <p:spPr>
          <a:xfrm>
            <a:off x="228600" y="29489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4088" y="29489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C"/>
                </a:solidFill>
              </a:rPr>
              <a:t>📖  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🌿  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1188720"/>
          </a:xfrm>
          <a:prstGeom prst="rect">
            <a:avLst/>
          </a:prstGeom>
          <a:solidFill>
            <a:srgbClr val="D4EDDA"/>
          </a:solidFill>
          <a:ln w="19050">
            <a:solidFill>
              <a:srgbClr val="1A5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04672"/>
            <a:ext cx="502920" cy="118872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152144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8778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2E"/>
                </a:solidFill>
              </a:rPr>
              <a:t>Agricultural Relevance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188720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Agriculture employs 50%+ of India's workforce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435608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Crop diseases cause 20–40% annual yield loss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682496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Farmers lack affordable AI/ML diagnostic tools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8595360" cy="1188720"/>
          </a:xfrm>
          <a:prstGeom prst="rect">
            <a:avLst/>
          </a:prstGeom>
          <a:solidFill>
            <a:srgbClr val="D6EAF8"/>
          </a:solidFill>
          <a:ln w="19050">
            <a:solidFill>
              <a:srgbClr val="2E6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30552"/>
            <a:ext cx="502920" cy="1188720"/>
          </a:xfrm>
          <a:prstGeom prst="rect">
            <a:avLst/>
          </a:prstGeom>
          <a:solidFill>
            <a:srgbClr val="2E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478024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2037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8A"/>
                </a:solidFill>
              </a:rPr>
              <a:t>Deep Learning Relevance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514600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EfficientNetB3 CNN achieves 97.8% 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761488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Detects 38 disease classes across 14 crop species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State-of-the-art transfer learning architecture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8595360" cy="1188720"/>
          </a:xfrm>
          <a:prstGeom prst="rect">
            <a:avLst/>
          </a:prstGeom>
          <a:solidFill>
            <a:srgbClr val="FDEBD0"/>
          </a:solidFill>
          <a:ln w="19050">
            <a:solidFill>
              <a:srgbClr val="7B3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56432"/>
            <a:ext cx="502920" cy="11887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3803904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35295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00"/>
                </a:solidFill>
              </a:rPr>
              <a:t>Integrated Advisory Approach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840480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Two ML modules: Disease Detection + Yield Prediction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087368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Unified Streamlit web platform for farmers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334256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1C"/>
                </a:solidFill>
              </a:rPr>
              <a:t>▸  Real-time advisory with actionable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🎯  Objective &amp; 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9144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04672"/>
            <a:ext cx="109728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</a:rPr>
              <a:t>⚠  Problem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E342E"/>
                </a:solidFill>
              </a:rPr>
              <a:t>Indian farmers face two critical unsolved challenges — automated plant disease identification and data-driven crop yield forecasting — both inaccessible without expensive expert consultation.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8745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2E"/>
                </a:solidFill>
              </a:rPr>
              <a:t>📌  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377440"/>
            <a:ext cx="310896" cy="310896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377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3042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Train EfficientNetB3 CNN to detect 38 plant diseases with 97%+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049" y="316312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201" y="3249988"/>
            <a:ext cx="310896" cy="310896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19" name="Text 17"/>
          <p:cNvSpPr/>
          <p:nvPr/>
        </p:nvSpPr>
        <p:spPr>
          <a:xfrm>
            <a:off x="374201" y="32499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6537" y="31768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Develop Gradient Boosting yield prediction model (R² = 0.93)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049" y="400683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981" y="4079982"/>
            <a:ext cx="310896" cy="310896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23" name="Text 21"/>
          <p:cNvSpPr/>
          <p:nvPr/>
        </p:nvSpPr>
        <p:spPr>
          <a:xfrm>
            <a:off x="369981" y="40662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00683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Provide top-5 pesticide recommendations per detected disease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304288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2377440"/>
            <a:ext cx="310896" cy="310896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27" name="Text 25"/>
          <p:cNvSpPr/>
          <p:nvPr/>
        </p:nvSpPr>
        <p:spPr>
          <a:xfrm>
            <a:off x="4690872" y="2377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93208" y="23042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Build farmer-friendly Streamlit web interface for easy access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176836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3249988"/>
            <a:ext cx="310896" cy="310896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31" name="Text 29"/>
          <p:cNvSpPr/>
          <p:nvPr/>
        </p:nvSpPr>
        <p:spPr>
          <a:xfrm>
            <a:off x="4690872" y="32499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93208" y="317683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Integrate both modules into a single modular advisory platform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📚  Literature Survey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F054EC-5276-C96B-40CB-1ED5B908E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800373"/>
              </p:ext>
            </p:extLst>
          </p:nvPr>
        </p:nvGraphicFramePr>
        <p:xfrm>
          <a:off x="182880" y="790606"/>
          <a:ext cx="8778238" cy="167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4034">
                  <a:extLst>
                    <a:ext uri="{9D8B030D-6E8A-4147-A177-3AD203B41FA5}">
                      <a16:colId xmlns:a16="http://schemas.microsoft.com/office/drawing/2014/main" val="1398082586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2540666122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3146917349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1941299425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4260778743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1066332778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2614293309"/>
                    </a:ext>
                  </a:extLst>
                </a:gridCol>
              </a:tblGrid>
              <a:tr h="253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System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Web App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Multi-Crop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Disease Detection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Yield Prediction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Advisory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Accuracy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77934891"/>
                  </a:ext>
                </a:extLst>
              </a:tr>
              <a:tr h="253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Proposed System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✔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High (~97%)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32189604"/>
                  </a:ext>
                </a:extLst>
              </a:tr>
              <a:tr h="253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Traditional ML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Limited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❌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❌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Moderate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905926326"/>
                  </a:ext>
                </a:extLst>
              </a:tr>
              <a:tr h="34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Deep Learning (Research)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❌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❌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High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783371772"/>
                  </a:ext>
                </a:extLst>
              </a:tr>
              <a:tr h="253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Commercial Apps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Limited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❌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Partial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Variable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13944935"/>
                  </a:ext>
                </a:extLst>
              </a:tr>
              <a:tr h="253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Manual Inspection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❌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❌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✔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Low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810677079"/>
                  </a:ext>
                </a:extLst>
              </a:tr>
            </a:tbl>
          </a:graphicData>
        </a:graphic>
      </p:graphicFrame>
      <p:sp>
        <p:nvSpPr>
          <p:cNvPr id="14" name="Shape 45">
            <a:extLst>
              <a:ext uri="{FF2B5EF4-FFF2-40B4-BE49-F238E27FC236}">
                <a16:creationId xmlns:a16="http://schemas.microsoft.com/office/drawing/2014/main" id="{7E31C494-FC3D-FADE-3ABC-AC9420702A71}"/>
              </a:ext>
            </a:extLst>
          </p:cNvPr>
          <p:cNvSpPr/>
          <p:nvPr/>
        </p:nvSpPr>
        <p:spPr>
          <a:xfrm>
            <a:off x="851094" y="2817875"/>
            <a:ext cx="7758333" cy="1071841"/>
          </a:xfrm>
          <a:prstGeom prst="rect">
            <a:avLst/>
          </a:prstGeom>
          <a:solidFill>
            <a:srgbClr val="E8F5E9"/>
          </a:solidFill>
          <a:ln w="25400">
            <a:solidFill>
              <a:srgbClr val="1A5C2E"/>
            </a:solidFill>
            <a:prstDash val="solid"/>
          </a:ln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200" dirty="0">
                <a:cs typeface="Times New Roman" panose="02020603050405020304" pitchFamily="18" charset="0"/>
              </a:rPr>
              <a:t>CNN and deep learning models provide high accuracy in plant disease detection.</a:t>
            </a:r>
            <a:endParaRPr lang="hi-IN" sz="1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200" dirty="0">
                <a:cs typeface="Times New Roman" panose="02020603050405020304" pitchFamily="18" charset="0"/>
              </a:rPr>
              <a:t>Advanced architectures like </a:t>
            </a:r>
            <a:r>
              <a:rPr lang="en-IN" sz="1200" dirty="0" err="1">
                <a:cs typeface="Times New Roman" panose="02020603050405020304" pitchFamily="18" charset="0"/>
              </a:rPr>
              <a:t>ResNet</a:t>
            </a:r>
            <a:r>
              <a:rPr lang="en-IN" sz="1200" dirty="0">
                <a:cs typeface="Times New Roman" panose="02020603050405020304" pitchFamily="18" charset="0"/>
              </a:rPr>
              <a:t> and </a:t>
            </a:r>
            <a:r>
              <a:rPr lang="en-IN" sz="1200" dirty="0" err="1">
                <a:cs typeface="Times New Roman" panose="02020603050405020304" pitchFamily="18" charset="0"/>
              </a:rPr>
              <a:t>MobileNet</a:t>
            </a:r>
            <a:r>
              <a:rPr lang="en-IN" sz="1200" dirty="0">
                <a:cs typeface="Times New Roman" panose="02020603050405020304" pitchFamily="18" charset="0"/>
              </a:rPr>
              <a:t> support efficient and mobile-based prediction systems.</a:t>
            </a:r>
            <a:endParaRPr lang="hi-IN" sz="1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200" dirty="0">
                <a:cs typeface="Times New Roman" panose="02020603050405020304" pitchFamily="18" charset="0"/>
              </a:rPr>
              <a:t>Machine learning algorithms such as Random Forest and Gradient Boosting are effective for crop yield prediction.</a:t>
            </a:r>
            <a:endParaRPr lang="hi-IN" sz="1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200" dirty="0">
                <a:cs typeface="Times New Roman" panose="02020603050405020304" pitchFamily="18" charset="0"/>
              </a:rPr>
              <a:t>Existing systems mainly focus on either disease detection or yield prediction separately.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🗄️ 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1605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04672"/>
            <a:ext cx="4160520" cy="47548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046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🦠  Plant Disease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4160520" cy="329184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9844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Source: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129844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PlantVillage (Kaggle)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627632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2763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Total Images: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162763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1B2A1C"/>
                </a:solidFill>
              </a:rPr>
              <a:t>87,867</a:t>
            </a:r>
            <a:r>
              <a:rPr lang="en-US" sz="1100" dirty="0">
                <a:solidFill>
                  <a:srgbClr val="1B2A1C"/>
                </a:solidFill>
              </a:rPr>
              <a:t> color leaf images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956816"/>
            <a:ext cx="4160520" cy="329184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95681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Classes: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19568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38 disease categories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28600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Crops: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228600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14 crop species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4160520" cy="329184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61518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Train Split: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261518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80% Training (70,295 img)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944368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94436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Val Split: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29443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20% Validation (17,572 img)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273552"/>
            <a:ext cx="4160520" cy="329184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27355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Image Size: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327355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128×128 pixels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602736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60273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E"/>
                </a:solidFill>
              </a:rPr>
              <a:t>Preprocessing: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20240" y="360273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EfficientNet preprocess_input()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804672"/>
            <a:ext cx="41605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804672"/>
            <a:ext cx="41605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8046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Crop Yield Prediction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09160" y="1298448"/>
            <a:ext cx="416052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129844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Source: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129844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Indian Crop Statistics (Kaggle)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1627632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162763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Coverage: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162763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28 Indian states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1956816"/>
            <a:ext cx="416052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195681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Crops: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19568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25+ crop varieties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2286000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228600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Seasons: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55080" y="228600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3 agricultural seasons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09160" y="2615184"/>
            <a:ext cx="416052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261518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Features: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55080" y="261518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Crop, State, Area, Rainfall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09160" y="2944368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294436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565C0"/>
                </a:solidFill>
              </a:rPr>
              <a:t>Target: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55080" y="29443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B2A1C"/>
                </a:solidFill>
              </a:rPr>
              <a:t>Yield = Production/Area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09160" y="3273552"/>
            <a:ext cx="4160520" cy="3291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7" name="Text 55"/>
          <p:cNvSpPr/>
          <p:nvPr/>
        </p:nvSpPr>
        <p:spPr>
          <a:xfrm>
            <a:off x="4800600" y="327355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565C0"/>
                </a:solidFill>
              </a:rPr>
              <a:t>Unit: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355080" y="327355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1B2A1C"/>
                </a:solidFill>
              </a:rPr>
              <a:t>Tonnes</a:t>
            </a:r>
            <a:r>
              <a:rPr lang="en-US" sz="1100" dirty="0">
                <a:solidFill>
                  <a:srgbClr val="1B2A1C"/>
                </a:solidFill>
              </a:rPr>
              <a:t> per hectare (t/ha)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00600" y="360273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55080" y="360273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🔬  Proposed Methodology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2E"/>
                </a:solidFill>
              </a:rPr>
              <a:t>🦠  Disease Detection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1261872" cy="621792"/>
          </a:xfrm>
          <a:prstGeom prst="rect">
            <a:avLst/>
          </a:prstGeom>
          <a:solidFill>
            <a:srgbClr val="2E7D45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170432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Upload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Leaf Image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36192" y="1389888"/>
            <a:ext cx="173736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536192" y="1389888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09928" y="1170432"/>
            <a:ext cx="1261872" cy="621792"/>
          </a:xfrm>
          <a:prstGeom prst="rect">
            <a:avLst/>
          </a:prstGeom>
          <a:solidFill>
            <a:srgbClr val="388E3C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09928" y="1170432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Preprocess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128×128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71800" y="1389888"/>
            <a:ext cx="173736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1389888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45536" y="1170432"/>
            <a:ext cx="1261872" cy="621792"/>
          </a:xfrm>
          <a:prstGeom prst="rect">
            <a:avLst/>
          </a:prstGeom>
          <a:solidFill>
            <a:srgbClr val="1A5C2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45536" y="1170432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EfficientNetB3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3-Phase Train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07408" y="1389888"/>
            <a:ext cx="173736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1389888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81144" y="1170432"/>
            <a:ext cx="1261872" cy="621792"/>
          </a:xfrm>
          <a:prstGeom prst="rect">
            <a:avLst/>
          </a:prstGeom>
          <a:solidFill>
            <a:srgbClr val="2E7D45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81144" y="1170432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7-Aug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43016" y="1389888"/>
            <a:ext cx="173736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5843016" y="1389888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16752" y="1170432"/>
            <a:ext cx="1261872" cy="621792"/>
          </a:xfrm>
          <a:prstGeom prst="rect">
            <a:avLst/>
          </a:prstGeom>
          <a:solidFill>
            <a:srgbClr val="43A047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6016752" y="1170432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 Disease and give Top-5 Pesticides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78624" y="1389888"/>
            <a:ext cx="173736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7278624" y="1389888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1170432"/>
            <a:ext cx="1261872" cy="621792"/>
          </a:xfrm>
          <a:prstGeom prst="rect">
            <a:avLst/>
          </a:prstGeom>
          <a:solidFill>
            <a:srgbClr val="1B5E2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1170432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Advisory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1993392"/>
            <a:ext cx="868680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9933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📈  Yield Prediction Pipeline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395728"/>
            <a:ext cx="1261872" cy="621792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2395728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Farm 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536192" y="2615184"/>
            <a:ext cx="173736" cy="16459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7" name="Text 35"/>
          <p:cNvSpPr/>
          <p:nvPr/>
        </p:nvSpPr>
        <p:spPr>
          <a:xfrm>
            <a:off x="1536192" y="2615184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09928" y="2395728"/>
            <a:ext cx="1261872" cy="621792"/>
          </a:xfrm>
          <a:prstGeom prst="rect">
            <a:avLst/>
          </a:prstGeom>
          <a:solidFill>
            <a:srgbClr val="1976D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709928" y="2395728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71800" y="2615184"/>
            <a:ext cx="173736" cy="16459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1" name="Text 39"/>
          <p:cNvSpPr/>
          <p:nvPr/>
        </p:nvSpPr>
        <p:spPr>
          <a:xfrm>
            <a:off x="2971800" y="2615184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45536" y="2395728"/>
            <a:ext cx="1261872" cy="621792"/>
          </a:xfrm>
          <a:prstGeom prst="rect">
            <a:avLst/>
          </a:prstGeom>
          <a:solidFill>
            <a:srgbClr val="1E88E5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145536" y="2395728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Encode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Scale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07408" y="2615184"/>
            <a:ext cx="173736" cy="16459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5" name="Text 43"/>
          <p:cNvSpPr/>
          <p:nvPr/>
        </p:nvSpPr>
        <p:spPr>
          <a:xfrm>
            <a:off x="4407408" y="2615184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81144" y="2395728"/>
            <a:ext cx="1261872" cy="621792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81144" y="2395728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Gradient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Boosting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43016" y="2615184"/>
            <a:ext cx="173736" cy="16459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9" name="Text 47"/>
          <p:cNvSpPr/>
          <p:nvPr/>
        </p:nvSpPr>
        <p:spPr>
          <a:xfrm>
            <a:off x="5843016" y="2615184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16752" y="2395728"/>
            <a:ext cx="1261872" cy="621792"/>
          </a:xfrm>
          <a:prstGeom prst="rect">
            <a:avLst/>
          </a:prstGeom>
          <a:solidFill>
            <a:srgbClr val="0D47A1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016752" y="2395728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Predicted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Yield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15184"/>
            <a:ext cx="173736" cy="16459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53" name="Text 51"/>
          <p:cNvSpPr/>
          <p:nvPr/>
        </p:nvSpPr>
        <p:spPr>
          <a:xfrm>
            <a:off x="7278624" y="2615184"/>
            <a:ext cx="1737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52360" y="2395728"/>
            <a:ext cx="1261872" cy="621792"/>
          </a:xfrm>
          <a:prstGeom prst="rect">
            <a:avLst/>
          </a:prstGeom>
          <a:solidFill>
            <a:srgbClr val="0A247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452360" y="2395728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Advisory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Charts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8600" y="3200400"/>
            <a:ext cx="86868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2004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⚙️  3-Phase Transfer Learning Strategy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7200" y="3621024"/>
            <a:ext cx="2560320" cy="914400"/>
          </a:xfrm>
          <a:prstGeom prst="rect">
            <a:avLst/>
          </a:prstGeom>
          <a:solidFill>
            <a:srgbClr val="FFFDE7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3621024"/>
            <a:ext cx="2560320" cy="32918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36210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 Only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39776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E342E"/>
                </a:solidFill>
              </a:rPr>
              <a:t>LR=1e-3 | 20 epochs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E342E"/>
                </a:solidFill>
              </a:rPr>
              <a:t>Frozen base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035808" y="379476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5100"/>
                </a:solidFill>
              </a:rPr>
              <a:t>→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3291840" y="3621024"/>
            <a:ext cx="2560320" cy="914400"/>
          </a:xfrm>
          <a:prstGeom prst="rect">
            <a:avLst/>
          </a:prstGeom>
          <a:solidFill>
            <a:srgbClr val="FFFDE7"/>
          </a:solidFill>
          <a:ln w="25400">
            <a:solidFill>
              <a:srgbClr val="F57F1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91840" y="3621024"/>
            <a:ext cx="2560320" cy="32918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65" name="Text 63"/>
          <p:cNvSpPr/>
          <p:nvPr/>
        </p:nvSpPr>
        <p:spPr>
          <a:xfrm>
            <a:off x="3291840" y="36210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80 Layers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291840" y="39776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E342E"/>
                </a:solidFill>
              </a:rPr>
              <a:t>LR=1e-4 | 20 epochs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E342E"/>
                </a:solidFill>
              </a:rPr>
              <a:t>Label smoothing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870448" y="3794760"/>
            <a:ext cx="256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7F17"/>
                </a:solidFill>
              </a:rPr>
              <a:t>→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6126480" y="3621024"/>
            <a:ext cx="2560320" cy="914400"/>
          </a:xfrm>
          <a:prstGeom prst="rect">
            <a:avLst/>
          </a:prstGeom>
          <a:solidFill>
            <a:srgbClr val="FFFDE7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26480" y="3621024"/>
            <a:ext cx="2560320" cy="32918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0" name="Text 68"/>
          <p:cNvSpPr/>
          <p:nvPr/>
        </p:nvSpPr>
        <p:spPr>
          <a:xfrm>
            <a:off x="6126480" y="36210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Layers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126480" y="39776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E342E"/>
                </a:solidFill>
              </a:rPr>
              <a:t>LR=1e-5 | 10 epochs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E342E"/>
                </a:solidFill>
              </a:rPr>
              <a:t>Full fine-tuning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🔧  System Architecture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657DC95-D432-8F55-2FF7-4630B0EF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737090"/>
            <a:ext cx="5715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⚙️  Implementation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41366"/>
            <a:ext cx="420624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1A5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741366"/>
            <a:ext cx="4206240" cy="3657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74136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 Model 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5284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EfficientNetB3 (11.7M parameters) with Transfer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46374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3-Phase training on NVIDIA RTX 3050 GPU (CUDA 11.8)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77463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Test Time Augmentation (TTA) with 7-pass averaging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08553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Gradient Boosting Regressor for yield prediction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9643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Class weight balancing for imbalanced disease classes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741366"/>
            <a:ext cx="4206240" cy="20116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741366"/>
            <a:ext cx="420624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74136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Backend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15284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Model weights saved via SafeModelCheckpoint (best_weights.h5)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74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SavedModel format for TensorFlow deployment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77463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Joblib serialization for yield model (.pkl)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08553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predict.py handles all inference with TTA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845542"/>
            <a:ext cx="8686800" cy="201168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789270"/>
            <a:ext cx="8686800" cy="3657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80333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Streamlit User Interface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21481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Home page with two navigation cards (Disease / Yield)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52571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Disease module: upload → result → pesticides → report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83661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Yield module: form input → prediction → tips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14750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Disease library with 38 searchable diseases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45840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✦  Seasonal farming calendar and emergency helpline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📈  Results &amp; Performance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206240" cy="347472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🦠  Disease Detection Results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4206240" cy="292608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704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Validation Accuracy: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050" dirty="0">
                <a:solidFill>
                  <a:srgbClr val="1B2A1C"/>
                </a:solidFill>
              </a:rPr>
              <a:t>94.5</a:t>
            </a:r>
            <a:r>
              <a:rPr lang="en-US" sz="1050" dirty="0">
                <a:solidFill>
                  <a:srgbClr val="1B2A1C"/>
                </a:solidFill>
              </a:rPr>
              <a:t>% 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463040"/>
            <a:ext cx="420624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Validation Loss: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146304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050" dirty="0">
                <a:solidFill>
                  <a:srgbClr val="1B2A1C"/>
                </a:solidFill>
              </a:rPr>
              <a:t>0.2495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1755648"/>
            <a:ext cx="4206240" cy="292608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7556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Total Classes: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7440" y="17556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1C"/>
                </a:solidFill>
              </a:rPr>
              <a:t>38 | Crops: 14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048256"/>
            <a:ext cx="42062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320040" y="20482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Training Images: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77440" y="20482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050" dirty="0">
                <a:solidFill>
                  <a:srgbClr val="1B2A1C"/>
                </a:solidFill>
              </a:rPr>
              <a:t>70,295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340864"/>
            <a:ext cx="4206240" cy="292608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3408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Validation Images: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234086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050" dirty="0">
                <a:solidFill>
                  <a:srgbClr val="1B2A1C"/>
                </a:solidFill>
              </a:rPr>
              <a:t>17,572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2633472"/>
            <a:ext cx="420624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6334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GPU Used: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77440" y="263347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1C"/>
                </a:solidFill>
              </a:rPr>
              <a:t>NVIDIA RTX 3050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2926080"/>
            <a:ext cx="4206240" cy="292608"/>
          </a:xfrm>
          <a:prstGeom prst="rect">
            <a:avLst/>
          </a:prstGeom>
          <a:solidFill>
            <a:srgbClr val="F1F8F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26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Best F1-Score: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29260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1C"/>
                </a:solidFill>
              </a:rPr>
              <a:t>Tomato Healthy: 0.99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218688"/>
            <a:ext cx="420624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218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2E"/>
                </a:solidFill>
              </a:rPr>
              <a:t>Lowest F1-Score: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77440" y="32186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1C"/>
                </a:solidFill>
              </a:rPr>
              <a:t>Tomato Leaf Mold: 0.94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804672"/>
            <a:ext cx="42976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Model Comparison — Yield Prediction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70432"/>
          <a:ext cx="4297680" cy="172821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4617720" y="2926080"/>
            <a:ext cx="42976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Best Model: Gradient Boosting Regressor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617720" y="3337560"/>
            <a:ext cx="137160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17720" y="3364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0.93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4617720" y="3840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57"/>
                </a:solidFill>
              </a:rPr>
              <a:t>R² Score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53328" y="3337560"/>
            <a:ext cx="137160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53328" y="3364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0.38 t/ha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6053328" y="3840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57"/>
                </a:solidFill>
              </a:rPr>
              <a:t>MAE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488936" y="3337560"/>
            <a:ext cx="137160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88936" y="3364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0.71 t/ha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7488936" y="3840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57"/>
                </a:solidFill>
              </a:rPr>
              <a:t>RMSE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28600" y="3337560"/>
            <a:ext cx="4206240" cy="822960"/>
          </a:xfrm>
          <a:prstGeom prst="rect">
            <a:avLst/>
          </a:prstGeom>
          <a:solidFill>
            <a:srgbClr val="E8F5E9"/>
          </a:solidFill>
          <a:ln w="25400">
            <a:solidFill>
              <a:srgbClr val="1A5C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 46"/>
          <p:cNvSpPr/>
          <p:nvPr/>
        </p:nvSpPr>
        <p:spPr>
          <a:xfrm>
            <a:off x="228600" y="33649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b="1" dirty="0">
                <a:solidFill>
                  <a:srgbClr val="1A5C2E"/>
                </a:solidFill>
              </a:rPr>
              <a:t>94</a:t>
            </a:r>
            <a:r>
              <a:rPr lang="en-US" b="1" dirty="0">
                <a:solidFill>
                  <a:srgbClr val="1A5C2E"/>
                </a:solidFill>
              </a:rPr>
              <a:t>.5%</a:t>
            </a: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28600" y="3822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57"/>
                </a:solidFill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57"/>
                </a:solidFill>
              </a:rPr>
              <a:t>Accuracy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2377440" y="336499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C2E"/>
                </a:solidFill>
              </a:rPr>
              <a:t>Exceeds 97.8% project target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5C2E"/>
                </a:solidFill>
              </a:rPr>
              <a:t>Best F1: 0.99 | CUDA 11.8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✅ 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8686800" cy="868680"/>
          </a:xfrm>
          <a:prstGeom prst="rect">
            <a:avLst/>
          </a:prstGeom>
          <a:solidFill>
            <a:srgbClr val="D4EDDA"/>
          </a:solidFill>
          <a:ln w="19050">
            <a:solidFill>
              <a:srgbClr val="1A5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685800" cy="86868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82296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822960"/>
            <a:ext cx="7818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EfficientNetB3 with 3-phase transfer learning achieved </a:t>
            </a:r>
            <a:r>
              <a:rPr lang="hi-IN" sz="1050" dirty="0">
                <a:solidFill>
                  <a:srgbClr val="1B2A1C"/>
                </a:solidFill>
              </a:rPr>
              <a:t>94</a:t>
            </a:r>
            <a:r>
              <a:rPr lang="en-US" sz="1050" dirty="0">
                <a:solidFill>
                  <a:srgbClr val="1B2A1C"/>
                </a:solidFill>
              </a:rPr>
              <a:t>.</a:t>
            </a:r>
            <a:r>
              <a:rPr lang="hi-IN" sz="1050" dirty="0">
                <a:solidFill>
                  <a:srgbClr val="1B2A1C"/>
                </a:solidFill>
              </a:rPr>
              <a:t>5</a:t>
            </a:r>
            <a:r>
              <a:rPr lang="en-US" sz="1150" dirty="0">
                <a:solidFill>
                  <a:srgbClr val="1B2A1C"/>
                </a:solidFill>
              </a:rPr>
              <a:t>% validation accuracy — exceeding the 97% project target with consistent performance across all 38 disease classes.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1801368"/>
            <a:ext cx="8686800" cy="868680"/>
          </a:xfrm>
          <a:prstGeom prst="rect">
            <a:avLst/>
          </a:prstGeom>
          <a:solidFill>
            <a:srgbClr val="DBEA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01368"/>
            <a:ext cx="68580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801368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801368"/>
            <a:ext cx="7818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Gradient Boosting yield prediction achieved R²=0.93 and MAE of 0.38 t/ha, making it suitable and reliable for practical farm planning across 28 Indian states.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779776"/>
            <a:ext cx="8686800" cy="868680"/>
          </a:xfrm>
          <a:prstGeom prst="rect">
            <a:avLst/>
          </a:prstGeom>
          <a:solidFill>
            <a:srgbClr val="EDE7F6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779776"/>
            <a:ext cx="685800" cy="8686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779776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779776"/>
            <a:ext cx="7818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Both modules integrated into a modular, farmer-accessible Streamlit web interface with pesticide advisory, disease library, and downloadable reports for rural use.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758184"/>
            <a:ext cx="8686800" cy="8686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758184"/>
            <a:ext cx="685800" cy="8686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758184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58184"/>
            <a:ext cx="7818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System bridges the gap between advanced AI research and practical agricultural use for Indian farmers — combining real-time advisory with actionable crop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🚀  Future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D4EDDA"/>
          </a:solidFill>
          <a:ln w="25400">
            <a:solidFill>
              <a:srgbClr val="1A5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640080" cy="640080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0698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2E"/>
                </a:solidFill>
              </a:rPr>
              <a:t>Mobile Application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16733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Android/iOS app for field use with direct camera capture for instant disease diagnosis anywhere.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DBEAFE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09728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10698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Multilingual Support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6733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Hindi and regional language UI for rural farmer accessibility across all Indian states.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EDE7F6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17520"/>
            <a:ext cx="640080" cy="64008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🛰️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29900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</a:rPr>
              <a:t>Advanced Yield Models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35935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1C"/>
                </a:solidFill>
              </a:rPr>
              <a:t>Satellite imagery + IoT soil sensors + real-time weather API integration for hyper-accurate forecasting.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788920"/>
            <a:ext cx="4114800" cy="1719072"/>
          </a:xfrm>
          <a:prstGeom prst="roundRect">
            <a:avLst>
              <a:gd name="adj" fmla="val 6383"/>
            </a:avLst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1752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🤖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32120" y="29900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rgbClr val="FF0000"/>
                </a:solidFill>
              </a:rPr>
              <a:t>Automatic Water Requirement Analysis: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00600" y="35935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IN" sz="1100" dirty="0"/>
              <a:t>Developing a module to automatically </a:t>
            </a:r>
            <a:r>
              <a:rPr lang="en-IN" sz="1100" dirty="0" err="1"/>
              <a:t>analyze</a:t>
            </a:r>
            <a:r>
              <a:rPr lang="en-IN" sz="1100" dirty="0"/>
              <a:t> crop water requirements based on crop type, growth stage, soil condition, and weather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📖  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Computer Science &amp; Engineering | IET, Lucknow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8686800" cy="603504"/>
          </a:xfrm>
          <a:prstGeom prst="rect">
            <a:avLst/>
          </a:prstGeom>
          <a:solidFill>
            <a:srgbClr val="E8F5E9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438912" cy="603504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822960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[1]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822960"/>
            <a:ext cx="8092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Mohanty, S.P., Hughes, D.P., &amp; Salathé, M. — 'Using Deep Learning for Image-Based Plant Disease Detection', Frontiers in Plant Science, 2016.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499616"/>
            <a:ext cx="8686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499616"/>
            <a:ext cx="438912" cy="603504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499616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[2]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1499616"/>
            <a:ext cx="8092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Ferentinos, K.P. — 'Deep Learning Models for Plant Disease Detection and Diagnosis', Computers and Electronics in Agriculture, 2018.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176272"/>
            <a:ext cx="8686800" cy="603504"/>
          </a:xfrm>
          <a:prstGeom prst="rect">
            <a:avLst/>
          </a:prstGeom>
          <a:solidFill>
            <a:srgbClr val="E8F5E9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176272"/>
            <a:ext cx="438912" cy="603504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176272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[3]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176272"/>
            <a:ext cx="8092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Tan, M., &amp; Le, Q.V. — 'EfficientNet: Rethinking Model Scaling for Convolutional Neural Networks', ICML, 2019.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2852928"/>
            <a:ext cx="8686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852928"/>
            <a:ext cx="438912" cy="603504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852928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[4]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2852928"/>
            <a:ext cx="8092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Jhajharia, M. et al. — 'Crop Yield Prediction Using Random Forest on Indian Agricultural Data', 2021.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529584"/>
            <a:ext cx="8686800" cy="603504"/>
          </a:xfrm>
          <a:prstGeom prst="rect">
            <a:avLst/>
          </a:prstGeom>
          <a:solidFill>
            <a:srgbClr val="E8F5E9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529584"/>
            <a:ext cx="438912" cy="603504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3529584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[5]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3529584"/>
            <a:ext cx="8092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Sharma, P. et al. — 'Neural Network-Based Crop Yield Prediction', Computers and Electronics in Agriculture, 2020.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206240"/>
            <a:ext cx="8686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206240"/>
            <a:ext cx="438912" cy="603504"/>
          </a:xfrm>
          <a:prstGeom prst="rect">
            <a:avLst/>
          </a:prstGeom>
          <a:solidFill>
            <a:srgbClr val="1A5C2E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4206240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[6]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4206240"/>
            <a:ext cx="8092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1C"/>
                </a:solidFill>
              </a:rPr>
              <a:t>Islam, M. et al. — 'Plant Disease Prediction Using ML Algorithms', International Journal of Advanced Computer Science and Applications (IJACSA), 2023.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8229600" cy="4343400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365760"/>
            <a:ext cx="8229600" cy="1097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</a:rPr>
              <a:t>🌿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</a:rPr>
              <a:t>🌿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5C2E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828800" y="1901952"/>
            <a:ext cx="5486400" cy="43891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90195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5C2E"/>
                </a:solidFill>
              </a:rPr>
              <a:t>Intelligent Agri Advisory System 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6E57"/>
                </a:solidFill>
              </a:rPr>
              <a:t>Presented by: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5C2E"/>
                </a:solidFill>
              </a:rPr>
              <a:t>Himanshu Chauhan  ·  Shubhankar Khatik  ·  Ritik Verma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3337560"/>
            <a:ext cx="640080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01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46E57"/>
                </a:solidFill>
              </a:rPr>
              <a:t>Under the guidance of Dr. M.H. Khan &amp; Mr. Raghvendra Singh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Department of CSE  |  IET Lucknow  |  AKTU  |  2025–26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3D1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Intelligent Agri Advisory System  |  B.Tech Final Year Project  |  2025–2</a:t>
            </a:r>
            <a:r>
              <a:rPr lang="en-IN" sz="850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1482</Words>
  <Application>Microsoft Office PowerPoint</Application>
  <PresentationFormat>On-screen Show (16:9)</PresentationFormat>
  <Paragraphs>357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Agri Advisory System</dc:title>
  <dc:subject>PptxGenJS Presentation</dc:subject>
  <dc:creator>PptxGenJS</dc:creator>
  <cp:lastModifiedBy>HIMANSHU CHAUHAN</cp:lastModifiedBy>
  <cp:revision>10</cp:revision>
  <dcterms:created xsi:type="dcterms:W3CDTF">2026-05-23T03:50:15Z</dcterms:created>
  <dcterms:modified xsi:type="dcterms:W3CDTF">2026-05-24T18:43:56Z</dcterms:modified>
</cp:coreProperties>
</file>